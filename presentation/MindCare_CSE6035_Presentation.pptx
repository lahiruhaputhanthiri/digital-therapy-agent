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187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6454" y="1262211"/>
            <a:ext cx="64510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A0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CARDIFF METROPOLITAN UNIVERSITY • ICBT CAMPUS • CSE6035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288161" y="1598712"/>
            <a:ext cx="656767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MindCare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288161" y="2189262"/>
            <a:ext cx="65676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400"/>
              </a:spcAft>
              <a:buNone/>
            </a:pPr>
            <a:r>
              <a:rPr lang="en-US" sz="16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 Recognition &amp; Mental Support System Using AI Voice Assistant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4050" y="2605088"/>
            <a:ext cx="1015901" cy="44351"/>
          </a:xfrm>
          <a:prstGeom prst="roundRect">
            <a:avLst>
              <a:gd name="adj" fmla="val 57270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47635" y="2852589"/>
            <a:ext cx="58487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Haputhanthirige Thushara Lahiru Kavishal (Lahiru Kavishal)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9648" y="3242301"/>
            <a:ext cx="45647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Aft>
                <a:spcPts val="400"/>
              </a:spcAft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ID: 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st20360354</a:t>
            </a: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 No: 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KG/BSCSD/16/41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07767" y="3546857"/>
            <a:ext cx="52269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300" dirty="0">
                <a:solidFill>
                  <a:srgbClr val="A0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T.S.A. Gunawardena</a:t>
            </a:r>
            <a:r>
              <a:rPr lang="en-US" sz="1300" dirty="0">
                <a:solidFill>
                  <a:srgbClr val="A0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300" dirty="0">
                <a:solidFill>
                  <a:srgbClr val="A0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BSc (Hons) Software 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06451" y="4103012"/>
            <a:ext cx="34295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Dissertation Defense (PRES1) •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55550" y="574625"/>
            <a:ext cx="843289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55550" y="152400"/>
            <a:ext cx="860155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Problem Statement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74600" y="672567"/>
            <a:ext cx="48416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 CRISIS &amp; CLINICAL DEFICIT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5550" y="953657"/>
            <a:ext cx="4746724" cy="129178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75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4 individuals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globally affected by mental health disorders (WHO, 2022).</a:t>
            </a:r>
            <a:endParaRPr lang="en-US" sz="1200" dirty="0"/>
          </a:p>
          <a:p>
            <a:pPr marL="88900" indent="-88900" algn="l">
              <a:lnSpc>
                <a:spcPts val="1375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 in LMICs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receive zero professional treatment or support.</a:t>
            </a:r>
            <a:endParaRPr lang="en-US" sz="1200" dirty="0"/>
          </a:p>
          <a:p>
            <a:pPr marL="88900" indent="-88900" algn="l">
              <a:lnSpc>
                <a:spcPts val="1375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 Lanka: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14.6 suicides per 100k; only </a:t>
            </a: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 psychiatrists per 100k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marL="88900" indent="-88900" algn="l">
              <a:lnSpc>
                <a:spcPts val="1375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cultural stigma suppresses traditional in-person help-seeking.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4600" y="2395023"/>
            <a:ext cx="48416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TECHNICAL &amp; USABILITY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286" y="2733344"/>
            <a:ext cx="4746724" cy="110128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75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digital tools are </a:t>
            </a: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monolingual (English)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text-heavy.</a:t>
            </a:r>
            <a:endParaRPr lang="en-US" sz="1200" dirty="0"/>
          </a:p>
          <a:p>
            <a:pPr marL="88900" indent="-88900" algn="l">
              <a:lnSpc>
                <a:spcPts val="1375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Typing emotional descriptions imposes </a:t>
            </a: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friction during panic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marL="88900" indent="-88900" algn="l">
              <a:lnSpc>
                <a:spcPts val="1375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chatbots lack </a:t>
            </a: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non-verbal affective awareness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5550" y="4117479"/>
            <a:ext cx="4746724" cy="746671"/>
          </a:xfrm>
          <a:prstGeom prst="roundRect">
            <a:avLst>
              <a:gd name="adj" fmla="val 8504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55550" y="4122241"/>
            <a:ext cx="4746724" cy="0"/>
          </a:xfrm>
          <a:prstGeom prst="line">
            <a:avLst/>
          </a:prstGeom>
          <a:noFill/>
          <a:ln w="9525">
            <a:solidFill>
              <a:srgbClr val="B2F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97512" y="4117479"/>
            <a:ext cx="0" cy="746671"/>
          </a:xfrm>
          <a:prstGeom prst="line">
            <a:avLst/>
          </a:prstGeom>
          <a:noFill/>
          <a:ln w="9525">
            <a:solidFill>
              <a:srgbClr val="B2F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5550" y="4859387"/>
            <a:ext cx="4746724" cy="0"/>
          </a:xfrm>
          <a:prstGeom prst="line">
            <a:avLst/>
          </a:prstGeom>
          <a:noFill/>
          <a:ln w="9525">
            <a:solidFill>
              <a:srgbClr val="B2F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4600" y="4117479"/>
            <a:ext cx="0" cy="746671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9004" y="4189845"/>
            <a:ext cx="4570005" cy="61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485"/>
              </a:lnSpc>
              <a:buNone/>
            </a:pPr>
            <a:r>
              <a:rPr lang="en-US" sz="12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Solution:</a:t>
            </a:r>
            <a:r>
              <a:rPr lang="en-US" sz="120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low-barrier, trilingual (EN / SI / TA) wellness companion integrating real-time facial and speech emotion recognition for non-clinical guided support.</a:t>
            </a:r>
            <a:endParaRPr lang="en-US" sz="1200" dirty="0"/>
          </a:p>
        </p:txBody>
      </p:sp>
      <p:pic>
        <p:nvPicPr>
          <p:cNvPr id="15" name="Image 0" descr="D:\ICBT\Final\digital-therapy-agent\presentation\slides\img\EVID-SS-001_landing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975" y="1797100"/>
            <a:ext cx="3508474" cy="16764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304854" y="3524250"/>
            <a:ext cx="34587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1: MindCare Trilingual Landing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55550" y="574625"/>
            <a:ext cx="843289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55550" y="152400"/>
            <a:ext cx="860155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&amp; Research Gap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5550" y="609599"/>
            <a:ext cx="2060674" cy="2675205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55550" y="628650"/>
            <a:ext cx="2060674" cy="0"/>
          </a:xfrm>
          <a:prstGeom prst="line">
            <a:avLst/>
          </a:prstGeom>
          <a:noFill/>
          <a:ln w="38100">
            <a:solidFill>
              <a:srgbClr val="0D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3926" y="711101"/>
            <a:ext cx="19012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• UNIMODAL SENSING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3454" y="1032114"/>
            <a:ext cx="19012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Sensitivity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454" y="1818103"/>
            <a:ext cx="1901202" cy="1466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 is sensitive to </a:t>
            </a: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 &amp; posture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(Dinges et al., 2005); SER degrades under </a:t>
            </a: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noise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text increases </a:t>
            </a: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during panic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(Suri et al., 2026).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79625" y="609600"/>
            <a:ext cx="2060674" cy="2675204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479625" y="628650"/>
            <a:ext cx="2060674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35537" y="609600"/>
            <a:ext cx="0" cy="1371302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78001" y="711101"/>
            <a:ext cx="19012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• SENSOR FUSION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4884" y="1021089"/>
            <a:ext cx="19012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Fusion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608886" y="1771131"/>
            <a:ext cx="1901202" cy="1025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visual and vocal channels enhances stability (Zhang et al., 2022); </a:t>
            </a: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Fusion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provides modularity and missing-sensor resilience.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03700" y="609599"/>
            <a:ext cx="2060674" cy="2675201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03700" y="628650"/>
            <a:ext cx="2060674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2076" y="711101"/>
            <a:ext cx="19012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• AI GOVERNANCE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11604" y="1028307"/>
            <a:ext cx="19012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 Safety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51600" y="1766781"/>
            <a:ext cx="190120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Unrestricted LLMs carry </a:t>
            </a: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and sycophancy risks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mental health; requires </a:t>
            </a: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graph workflows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(Patel et al., 2026; Voultsiou &amp; Moussiades, 2026).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7775" y="609600"/>
            <a:ext cx="2060674" cy="2675200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727775" y="628650"/>
            <a:ext cx="2060674" cy="0"/>
          </a:xfrm>
          <a:prstGeom prst="line">
            <a:avLst/>
          </a:prstGeom>
          <a:noFill/>
          <a:ln w="381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26151" y="711101"/>
            <a:ext cx="19012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• LOCALIZATION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26151" y="1035690"/>
            <a:ext cx="19012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Accessibility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26151" y="1766781"/>
            <a:ext cx="1901202" cy="109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</a:t>
            </a: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of affective systems are English-centric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(Zhu, 2023), causing performance degradation and exclusion in South Asian (Sinhala/Tamil) contexts.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5550" y="3684456"/>
            <a:ext cx="8432899" cy="1205143"/>
          </a:xfrm>
          <a:prstGeom prst="roundRect">
            <a:avLst>
              <a:gd name="adj" fmla="val 7012"/>
            </a:avLst>
          </a:prstGeom>
          <a:solidFill>
            <a:srgbClr val="E6FFFA"/>
          </a:solidFill>
          <a:ln w="19050">
            <a:solidFill>
              <a:srgbClr val="00B4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53926" y="3863396"/>
            <a:ext cx="3442825" cy="192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IDENTIFIED RESEARCH GAP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76101" y="4087233"/>
            <a:ext cx="8355634" cy="48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110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critical lack of accessible, low-barrier systems that integrate </a:t>
            </a:r>
            <a:r>
              <a:rPr lang="en-US" sz="1100" b="1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affective sensing, native trilingual support, and constrained conversational safety</a:t>
            </a:r>
            <a:r>
              <a:rPr lang="en-US" sz="110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within a unified non-clinical wellness platform.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6101" y="4615011"/>
            <a:ext cx="2009775" cy="192137"/>
          </a:xfrm>
          <a:prstGeom prst="roundRect">
            <a:avLst>
              <a:gd name="adj" fmla="val 66099"/>
            </a:avLst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07769" y="4646712"/>
            <a:ext cx="1946440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4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Sensing (Face + Voice)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536627" y="4615011"/>
            <a:ext cx="2009924" cy="192137"/>
          </a:xfrm>
          <a:prstGeom prst="roundRect">
            <a:avLst>
              <a:gd name="adj" fmla="val 66099"/>
            </a:avLst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568293" y="4646712"/>
            <a:ext cx="1946592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4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Trilingual Support (EN / SI / TA)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4597301" y="4615011"/>
            <a:ext cx="2009924" cy="192137"/>
          </a:xfrm>
          <a:prstGeom prst="roundRect">
            <a:avLst>
              <a:gd name="adj" fmla="val 66099"/>
            </a:avLst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628967" y="4646712"/>
            <a:ext cx="1946592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4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CBT State Machine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6657975" y="4615011"/>
            <a:ext cx="2009924" cy="192137"/>
          </a:xfrm>
          <a:prstGeom prst="roundRect">
            <a:avLst>
              <a:gd name="adj" fmla="val 66099"/>
            </a:avLst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689641" y="4646712"/>
            <a:ext cx="1946592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4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Privacy-Conscious Processing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55550" y="574625"/>
            <a:ext cx="843289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55550" y="152400"/>
            <a:ext cx="860155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and Research Objectives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0312" y="727890"/>
            <a:ext cx="8432899" cy="754856"/>
          </a:xfrm>
          <a:prstGeom prst="roundRect">
            <a:avLst>
              <a:gd name="adj" fmla="val 8412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78618" y="730308"/>
            <a:ext cx="8432899" cy="0"/>
          </a:xfrm>
          <a:prstGeom prst="line">
            <a:avLst/>
          </a:prstGeom>
          <a:noFill/>
          <a:ln w="9525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91624" y="727890"/>
            <a:ext cx="0" cy="754856"/>
          </a:xfrm>
          <a:prstGeom prst="line">
            <a:avLst/>
          </a:prstGeom>
          <a:noFill/>
          <a:ln w="9525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55550" y="1467594"/>
            <a:ext cx="8432899" cy="0"/>
          </a:xfrm>
          <a:prstGeom prst="line">
            <a:avLst/>
          </a:prstGeom>
          <a:noFill/>
          <a:ln w="9525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9363" y="712738"/>
            <a:ext cx="0" cy="754856"/>
          </a:xfrm>
          <a:prstGeom prst="line">
            <a:avLst/>
          </a:prstGeom>
          <a:noFill/>
          <a:ln w="476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0989" y="793791"/>
            <a:ext cx="82842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PROJECT AIM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4164" y="980392"/>
            <a:ext cx="8284285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"Develop a trilingual, multimodal and privacy-conscious AI-based wellness companion capable of estimating emotional states and providing guided non-clinical support."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9363" y="1693105"/>
            <a:ext cx="86015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RESEARCH OBJECTIVES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5550" y="2090619"/>
            <a:ext cx="2760166" cy="820489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9525">
            <a:solidFill>
              <a:srgbClr val="D0D8DD"/>
            </a:solidFill>
          </a:ln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1814" y="2348389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6206" y="2424589"/>
            <a:ext cx="1360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115" y="2176344"/>
            <a:ext cx="2174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 Emotion Recognition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115" y="2373094"/>
            <a:ext cx="2174450" cy="452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7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visual expression classification across 7 universal affective states via CNN.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14985" y="2090619"/>
            <a:ext cx="2760166" cy="820489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9525">
            <a:solidFill>
              <a:srgbClr val="D0D8DD"/>
            </a:solidFill>
          </a:ln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98181" y="2348389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82572" y="2424589"/>
            <a:ext cx="1360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704481" y="2176344"/>
            <a:ext cx="2174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Emotion Recognition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04481" y="2373094"/>
            <a:ext cx="2174450" cy="452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7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Acoustic emotion estimation extracted from 40-dimensional MFCC audio features.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28283" y="2105025"/>
            <a:ext cx="2760166" cy="820489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9525">
            <a:solidFill>
              <a:srgbClr val="D0D8DD"/>
            </a:solidFill>
          </a:ln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34547" y="2348389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18938" y="2424589"/>
            <a:ext cx="1360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40848" y="2251651"/>
            <a:ext cx="2174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Fusion &amp; Stress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40848" y="2448401"/>
            <a:ext cx="2174450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7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late fusion with polar conflict detection and stress mapping.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0788" y="2987308"/>
            <a:ext cx="2760166" cy="820489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9525">
            <a:solidFill>
              <a:srgbClr val="D0D8DD"/>
            </a:solidFill>
          </a:ln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1814" y="3245078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6206" y="3321278"/>
            <a:ext cx="1360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8115" y="3073033"/>
            <a:ext cx="2174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Stage-Aware Guided Support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115" y="3269784"/>
            <a:ext cx="2174450" cy="452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7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conversational therapy using a CBT state machine and deterministic fallback rules.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187155" y="2987308"/>
            <a:ext cx="2760166" cy="820489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9525">
            <a:solidFill>
              <a:srgbClr val="D0D8DD"/>
            </a:solidFill>
          </a:ln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298181" y="3245078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82572" y="3321278"/>
            <a:ext cx="1360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704481" y="3073033"/>
            <a:ext cx="2174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Trilingual Accessibility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04481" y="3269784"/>
            <a:ext cx="2174450" cy="452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7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interface and speech interaction in English, Sinhala, and Tamil.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23521" y="2987308"/>
            <a:ext cx="2760166" cy="820489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9525">
            <a:solidFill>
              <a:srgbClr val="D0D8DD"/>
            </a:solidFill>
          </a:ln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34547" y="3245078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18938" y="3321278"/>
            <a:ext cx="1360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40848" y="3073033"/>
            <a:ext cx="2174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Privacy-Conscious Processing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40848" y="3269784"/>
            <a:ext cx="2174450" cy="452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7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in-memory media processing with client-side sensor consent controls.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55550" y="574625"/>
            <a:ext cx="843289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55550" y="152400"/>
            <a:ext cx="860155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System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5550" y="609600"/>
            <a:ext cx="4859982" cy="4279999"/>
          </a:xfrm>
          <a:prstGeom prst="roundRect">
            <a:avLst>
              <a:gd name="adj" fmla="val 1780"/>
            </a:avLst>
          </a:prstGeom>
          <a:solidFill>
            <a:srgbClr val="FFFFFF"/>
          </a:solidFill>
          <a:ln w="9525">
            <a:solidFill>
              <a:srgbClr val="D0D8DD"/>
            </a:solidFill>
          </a:ln>
          <a:effectLst>
            <a:outerShdw blurRad="63500" dist="25400" dir="5400000" algn="bl" rotWithShape="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D:\ICBT\Final\digital-therapy-agent\presentation\slides\img\fig4_architec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75" y="695325"/>
            <a:ext cx="4688532" cy="39053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4390" y="4651474"/>
            <a:ext cx="47823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4: High-Level Decoupled Architecture (Thesis Chapter 5)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393234" y="609600"/>
            <a:ext cx="3395216" cy="828080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393234" y="614363"/>
            <a:ext cx="3395216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783687" y="609600"/>
            <a:ext cx="0" cy="82808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393234" y="1432917"/>
            <a:ext cx="3395216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412284" y="609600"/>
            <a:ext cx="0" cy="828080"/>
          </a:xfrm>
          <a:prstGeom prst="line">
            <a:avLst/>
          </a:prstGeom>
          <a:noFill/>
          <a:ln w="38100">
            <a:solidFill>
              <a:srgbClr val="0D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32834" y="682526"/>
            <a:ext cx="32074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• PRESENTATION CLIENT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532834" y="888802"/>
            <a:ext cx="3207481" cy="47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&amp; React (TypeScript)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WebRTC sensor capture, dynamic trilingual UI (EN/SI/TA), real-time canvas visualization.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393234" y="1651099"/>
            <a:ext cx="3395216" cy="828080"/>
          </a:xfrm>
          <a:prstGeom prst="roundRect">
            <a:avLst>
              <a:gd name="adj" fmla="val 61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393234" y="1655862"/>
            <a:ext cx="3395216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783687" y="1651099"/>
            <a:ext cx="0" cy="82808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393234" y="2474416"/>
            <a:ext cx="3395216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412284" y="1651099"/>
            <a:ext cx="0" cy="82808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532834" y="1724025"/>
            <a:ext cx="32074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• API &amp; ORCHESTRATION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532834" y="1930301"/>
            <a:ext cx="3207481" cy="47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FastAPI (Uvicorn ASGI)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Full-duplex WebSockets, JWT authentication, non-blocking asynchronous event loop.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93234" y="2692450"/>
            <a:ext cx="3395216" cy="669429"/>
          </a:xfrm>
          <a:prstGeom prst="roundRect">
            <a:avLst>
              <a:gd name="adj" fmla="val 75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393234" y="2697212"/>
            <a:ext cx="3395216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783687" y="2692450"/>
            <a:ext cx="0" cy="669429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393234" y="3357116"/>
            <a:ext cx="3395216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412284" y="2692450"/>
            <a:ext cx="0" cy="669429"/>
          </a:xfrm>
          <a:prstGeom prst="line">
            <a:avLst/>
          </a:prstGeom>
          <a:noFill/>
          <a:ln w="381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532834" y="2765375"/>
            <a:ext cx="32074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• ML &amp; THERAPY ENGINES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532834" y="2971651"/>
            <a:ext cx="3207481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&amp; Librosa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Facial 2D-CNN, Speech DNN, 50/50 late fusion, Gemini Flash 3.7 constrained dialogue.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393234" y="3575298"/>
            <a:ext cx="3395216" cy="669429"/>
          </a:xfrm>
          <a:prstGeom prst="roundRect">
            <a:avLst>
              <a:gd name="adj" fmla="val 75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5393234" y="3580061"/>
            <a:ext cx="3395216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783687" y="3575298"/>
            <a:ext cx="0" cy="669429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393234" y="4239964"/>
            <a:ext cx="3395216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412284" y="3575298"/>
            <a:ext cx="0" cy="669429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532834" y="3648224"/>
            <a:ext cx="32074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 • DATA PERSISTENCE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532834" y="3854500"/>
            <a:ext cx="3207481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3 via SQLAlchemy ORM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User-isolated session metadata, 3-tier RBAC accounts, and cascade deletion.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393234" y="4457998"/>
            <a:ext cx="3395216" cy="431602"/>
          </a:xfrm>
          <a:prstGeom prst="roundRect">
            <a:avLst>
              <a:gd name="adj" fmla="val 1177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5412284" y="4457998"/>
            <a:ext cx="0" cy="431602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532834" y="4521398"/>
            <a:ext cx="321719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</a:t>
            </a:r>
            <a:r>
              <a:rPr lang="en-US" sz="1000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Adapted 12-Week Agile-Scrum Sprints + CRISP-DM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55550" y="574625"/>
            <a:ext cx="843289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55550" y="152400"/>
            <a:ext cx="860155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System Workflow &amp; Sequence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5550" y="609600"/>
            <a:ext cx="4213324" cy="4279999"/>
          </a:xfrm>
          <a:prstGeom prst="roundRect">
            <a:avLst>
              <a:gd name="adj" fmla="val 1809"/>
            </a:avLst>
          </a:prstGeom>
          <a:solidFill>
            <a:srgbClr val="FFFFFF"/>
          </a:solidFill>
          <a:ln w="9525">
            <a:solidFill>
              <a:srgbClr val="D0D8DD"/>
            </a:solidFill>
          </a:ln>
          <a:effectLst>
            <a:outerShdw blurRad="63500" dist="25400" dir="5400000" algn="bl" rotWithShape="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D:\ICBT\Final\digital-therapy-agent\presentation\slides\img\fig10_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75" y="695325"/>
            <a:ext cx="4041874" cy="39053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0857" y="4651474"/>
            <a:ext cx="41227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10: Multimodal Asynchronous Sequence Flow (Thesis Chapter 5)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46575" y="609600"/>
            <a:ext cx="4041874" cy="606177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746575" y="614363"/>
            <a:ext cx="4041874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783687" y="609600"/>
            <a:ext cx="0" cy="606177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46575" y="1211014"/>
            <a:ext cx="4041874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65625" y="609600"/>
            <a:ext cx="0" cy="606177"/>
          </a:xfrm>
          <a:prstGeom prst="line">
            <a:avLst/>
          </a:prstGeom>
          <a:noFill/>
          <a:ln w="38100">
            <a:solidFill>
              <a:srgbClr val="0D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190827" y="669875"/>
            <a:ext cx="35563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Media Acquisition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190827" y="853976"/>
            <a:ext cx="3556328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7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captures webcam video frames &amp; audio chunks under user consent.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46575" y="1337518"/>
            <a:ext cx="4041874" cy="606177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46575" y="1342281"/>
            <a:ext cx="4041874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783687" y="1337518"/>
            <a:ext cx="0" cy="606177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46575" y="1938933"/>
            <a:ext cx="4041874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65625" y="1337518"/>
            <a:ext cx="0" cy="606177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190827" y="1397794"/>
            <a:ext cx="35563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Streaming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90827" y="1581894"/>
            <a:ext cx="3556328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7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Bi-directional full-duplex TCP stream delivers payloads with &lt;50ms network latency.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46575" y="2065437"/>
            <a:ext cx="4041874" cy="606177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46575" y="2070199"/>
            <a:ext cx="4041874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783687" y="2065437"/>
            <a:ext cx="0" cy="606177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46575" y="2666851"/>
            <a:ext cx="4041874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765625" y="2065437"/>
            <a:ext cx="0" cy="606177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190827" y="2125712"/>
            <a:ext cx="35563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Worker Inference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190827" y="2309813"/>
            <a:ext cx="3556328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7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dispatches Facial CNN &amp; Speech DNN via non-blocking worker threads.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746575" y="2793206"/>
            <a:ext cx="4041874" cy="606177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746575" y="2797969"/>
            <a:ext cx="4041874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783687" y="2793206"/>
            <a:ext cx="0" cy="606177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746575" y="3394621"/>
            <a:ext cx="4041874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765625" y="2793206"/>
            <a:ext cx="0" cy="606177"/>
          </a:xfrm>
          <a:prstGeom prst="line">
            <a:avLst/>
          </a:prstGeom>
          <a:noFill/>
          <a:ln w="381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190827" y="2853482"/>
            <a:ext cx="35563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Fusion &amp; Conflict Resolution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190827" y="3037582"/>
            <a:ext cx="3556328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7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50/50 weighted state and checks for polar emotion conflicts.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746575" y="3521125"/>
            <a:ext cx="4041874" cy="606177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4746575" y="3525887"/>
            <a:ext cx="4041874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8783687" y="3521125"/>
            <a:ext cx="0" cy="606177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746575" y="4122539"/>
            <a:ext cx="4041874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765625" y="3521125"/>
            <a:ext cx="0" cy="606177"/>
          </a:xfrm>
          <a:prstGeom prst="line">
            <a:avLst/>
          </a:prstGeom>
          <a:noFill/>
          <a:ln w="38100">
            <a:solidFill>
              <a:srgbClr val="0D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190827" y="3581400"/>
            <a:ext cx="35563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CBT Dialogue &amp; TTS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190827" y="3765500"/>
            <a:ext cx="3556328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7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LLM generates structured therapy reply; audio is synthesized via TTS.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4746575" y="4249043"/>
            <a:ext cx="4041874" cy="640556"/>
          </a:xfrm>
          <a:prstGeom prst="roundRect">
            <a:avLst>
              <a:gd name="adj" fmla="val 7931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1"/>
          <p:cNvSpPr/>
          <p:nvPr/>
        </p:nvSpPr>
        <p:spPr>
          <a:xfrm>
            <a:off x="4746575" y="4253805"/>
            <a:ext cx="4041874" cy="0"/>
          </a:xfrm>
          <a:prstGeom prst="line">
            <a:avLst/>
          </a:prstGeom>
          <a:noFill/>
          <a:ln w="9525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8783687" y="4249043"/>
            <a:ext cx="0" cy="640556"/>
          </a:xfrm>
          <a:prstGeom prst="line">
            <a:avLst/>
          </a:prstGeom>
          <a:noFill/>
          <a:ln w="9525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4746575" y="4884837"/>
            <a:ext cx="4041874" cy="0"/>
          </a:xfrm>
          <a:prstGeom prst="line">
            <a:avLst/>
          </a:prstGeom>
          <a:noFill/>
          <a:ln w="9525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4765625" y="4249043"/>
            <a:ext cx="0" cy="640556"/>
          </a:xfrm>
          <a:prstGeom prst="line">
            <a:avLst/>
          </a:prstGeom>
          <a:noFill/>
          <a:ln w="381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886176" y="4321969"/>
            <a:ext cx="3867073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Non-Blocking Concurrency:</a:t>
            </a:r>
            <a:r>
              <a:rPr lang="en-US" sz="10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isolates heavy tensor matrix multiplications, preserving a smooth 60 FPS client experience.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55550" y="574625"/>
            <a:ext cx="843289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55550" y="152400"/>
            <a:ext cx="860155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Implementation &amp; Empirical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5550" y="609600"/>
            <a:ext cx="2743200" cy="850702"/>
          </a:xfrm>
          <a:prstGeom prst="roundRect">
            <a:avLst>
              <a:gd name="adj" fmla="val 7464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55550" y="628650"/>
            <a:ext cx="2743200" cy="0"/>
          </a:xfrm>
          <a:prstGeom prst="line">
            <a:avLst/>
          </a:prstGeom>
          <a:noFill/>
          <a:ln w="38100">
            <a:solidFill>
              <a:srgbClr val="0D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093988" y="609600"/>
            <a:ext cx="0" cy="850702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55550" y="1455539"/>
            <a:ext cx="2743200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0313" y="609600"/>
            <a:ext cx="0" cy="850702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1365" y="711101"/>
            <a:ext cx="25715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 EMOTION • FER-2013 (TEST N=7,178)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1365" y="853976"/>
            <a:ext cx="257157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61.90%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1365" y="1215926"/>
            <a:ext cx="25715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2D-CNN (Production)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251" y="609600"/>
            <a:ext cx="2743349" cy="850702"/>
          </a:xfrm>
          <a:prstGeom prst="roundRect">
            <a:avLst>
              <a:gd name="adj" fmla="val 7464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00251" y="628650"/>
            <a:ext cx="2743349" cy="0"/>
          </a:xfrm>
          <a:prstGeom prst="line">
            <a:avLst/>
          </a:prstGeom>
          <a:noFill/>
          <a:ln w="381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38838" y="609600"/>
            <a:ext cx="0" cy="850702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251" y="1455539"/>
            <a:ext cx="2743349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5014" y="609600"/>
            <a:ext cx="0" cy="850702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86064" y="711101"/>
            <a:ext cx="25717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 EMOTION • TRANSFER LEARNING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86064" y="853976"/>
            <a:ext cx="257172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40.53%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286064" y="1215926"/>
            <a:ext cx="25717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MobileNetV2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45101" y="609600"/>
            <a:ext cx="2743349" cy="850702"/>
          </a:xfrm>
          <a:prstGeom prst="roundRect">
            <a:avLst>
              <a:gd name="adj" fmla="val 7464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45101" y="628650"/>
            <a:ext cx="2743349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783687" y="609600"/>
            <a:ext cx="0" cy="850702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45101" y="1455539"/>
            <a:ext cx="2743349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49863" y="609600"/>
            <a:ext cx="0" cy="850702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30914" y="711101"/>
            <a:ext cx="25717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EMOTION • RAVDESS / TESS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30914" y="853976"/>
            <a:ext cx="257172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7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53.60%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130914" y="1215926"/>
            <a:ext cx="25717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DNN (40 MFCCs)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5550" y="1868389"/>
            <a:ext cx="4152900" cy="1981199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0D8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0" descr="D:\ICBT\Final\digital-therapy-agent\presentation\slides\img\EVID-SS-151_face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156" y="2112913"/>
            <a:ext cx="1601539" cy="146045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362599" y="3611463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2: Facial Confusion Matrix — FER-2013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635401" y="1935064"/>
            <a:ext cx="4153049" cy="1914524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0D8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1" descr="D:\ICBT\Final\digital-therapy-agent\presentation\slides\img\EVID-SS-153_voice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829" y="2112913"/>
            <a:ext cx="1582043" cy="146045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642448" y="3611463"/>
            <a:ext cx="4138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3: Voice Confusion Matrix — 40 MFCCs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355550" y="4397276"/>
            <a:ext cx="8432899" cy="492323"/>
          </a:xfrm>
          <a:prstGeom prst="roundRect">
            <a:avLst>
              <a:gd name="adj" fmla="val 10318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2"/>
          <p:cNvSpPr/>
          <p:nvPr/>
        </p:nvSpPr>
        <p:spPr>
          <a:xfrm>
            <a:off x="355550" y="4402038"/>
            <a:ext cx="8432899" cy="0"/>
          </a:xfrm>
          <a:prstGeom prst="line">
            <a:avLst/>
          </a:prstGeom>
          <a:noFill/>
          <a:ln w="9525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8783687" y="4397276"/>
            <a:ext cx="0" cy="492323"/>
          </a:xfrm>
          <a:prstGeom prst="line">
            <a:avLst/>
          </a:prstGeom>
          <a:noFill/>
          <a:ln w="9525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355550" y="4884837"/>
            <a:ext cx="8432899" cy="0"/>
          </a:xfrm>
          <a:prstGeom prst="line">
            <a:avLst/>
          </a:prstGeom>
          <a:noFill/>
          <a:ln w="9525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374600" y="4397276"/>
            <a:ext cx="0" cy="492323"/>
          </a:xfrm>
          <a:prstGeom prst="line">
            <a:avLst/>
          </a:prstGeom>
          <a:noFill/>
          <a:ln w="381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495151" y="4470202"/>
            <a:ext cx="834591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Finding:</a:t>
            </a:r>
            <a:r>
              <a:rPr lang="en-US" sz="10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Baseline 2D-CNN outperformed MobileNetV2 in the observed evaluation, indicating a domain gap between pretrained ImageNet features and low-resolution (48×48) grayscale FER-2013 data.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55550" y="574625"/>
            <a:ext cx="843289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55550" y="152400"/>
            <a:ext cx="860155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Fusion &amp; Stress Estimation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5550" y="609599"/>
            <a:ext cx="4540300" cy="1931193"/>
          </a:xfrm>
          <a:prstGeom prst="roundRect">
            <a:avLst>
              <a:gd name="adj" fmla="val 4271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79363" y="609599"/>
            <a:ext cx="0" cy="1898749"/>
          </a:xfrm>
          <a:prstGeom prst="line">
            <a:avLst/>
          </a:prstGeom>
          <a:noFill/>
          <a:ln w="476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4676" y="685800"/>
            <a:ext cx="43754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FUSION STRATEGY &amp; CONFLICT LOGIC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4676" y="904875"/>
            <a:ext cx="4289673" cy="2476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BEE3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0401" y="952500"/>
            <a:ext cx="42005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4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fused_prob[e] = 0.50 × P_face[e] + 0.50 × P_voice[e]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2770" y="1373953"/>
            <a:ext cx="4289673" cy="106563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187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Conflict Detection: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Contradictory valences (e.g., Happy Face + Sad Voice) resolve to </a:t>
            </a:r>
            <a:r>
              <a:rPr lang="en-US" sz="10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"Uncertain"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  <a:p>
            <a:pPr marL="88900" indent="-88900" algn="l">
              <a:lnSpc>
                <a:spcPts val="1187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Degradation: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Transparent single-modality passthrough when camera or mic is disabled.</a:t>
            </a:r>
            <a:endParaRPr lang="en-US" sz="1000" dirty="0"/>
          </a:p>
          <a:p>
            <a:pPr marL="88900" indent="-88900" algn="l">
              <a:lnSpc>
                <a:spcPts val="1187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Text-Only Fallback: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Default baseline state when sensors are absent.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299" y="3074045"/>
            <a:ext cx="4540300" cy="1383655"/>
          </a:xfrm>
          <a:prstGeom prst="roundRect">
            <a:avLst>
              <a:gd name="adj" fmla="val 4589"/>
            </a:avLst>
          </a:prstGeom>
          <a:solidFill>
            <a:srgbClr val="FFFFFF"/>
          </a:solidFill>
          <a:ln w="9525">
            <a:solidFill>
              <a:srgbClr val="D0D8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325" y="3146971"/>
            <a:ext cx="44046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SOMATIC STRESS INDEX WEIGHT MAPPING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325" y="3356521"/>
            <a:ext cx="677317" cy="355402"/>
          </a:xfrm>
          <a:prstGeom prst="roundRect">
            <a:avLst>
              <a:gd name="adj" fmla="val 10720"/>
            </a:avLst>
          </a:prstGeom>
          <a:solidFill>
            <a:srgbClr val="F4F8FA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3130" y="3391347"/>
            <a:ext cx="5937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
</a:t>
            </a:r>
            <a:r>
              <a:rPr lang="en-US" sz="95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59392" y="3356521"/>
            <a:ext cx="677466" cy="355402"/>
          </a:xfrm>
          <a:prstGeom prst="roundRect">
            <a:avLst>
              <a:gd name="adj" fmla="val 10720"/>
            </a:avLst>
          </a:prstGeom>
          <a:solidFill>
            <a:srgbClr val="F4F8FA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01195" y="3391347"/>
            <a:ext cx="5938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Angry
</a:t>
            </a:r>
            <a:r>
              <a:rPr lang="en-US" sz="95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87608" y="3356521"/>
            <a:ext cx="677317" cy="355402"/>
          </a:xfrm>
          <a:prstGeom prst="roundRect">
            <a:avLst>
              <a:gd name="adj" fmla="val 10720"/>
            </a:avLst>
          </a:prstGeom>
          <a:solidFill>
            <a:srgbClr val="F4F8FA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929413" y="3391347"/>
            <a:ext cx="5937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
</a:t>
            </a:r>
            <a:r>
              <a:rPr lang="en-US" sz="95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15676" y="3356521"/>
            <a:ext cx="677466" cy="355402"/>
          </a:xfrm>
          <a:prstGeom prst="roundRect">
            <a:avLst>
              <a:gd name="adj" fmla="val 10720"/>
            </a:avLst>
          </a:prstGeom>
          <a:solidFill>
            <a:srgbClr val="F4F8FA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57478" y="3391347"/>
            <a:ext cx="5938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Disgust
</a:t>
            </a:r>
            <a:r>
              <a:rPr lang="en-US" sz="95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43892" y="3356521"/>
            <a:ext cx="677466" cy="355402"/>
          </a:xfrm>
          <a:prstGeom prst="roundRect">
            <a:avLst>
              <a:gd name="adj" fmla="val 10720"/>
            </a:avLst>
          </a:prstGeom>
          <a:solidFill>
            <a:srgbClr val="F4F8FA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85694" y="3391347"/>
            <a:ext cx="5938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
</a:t>
            </a:r>
            <a:r>
              <a:rPr lang="en-US" sz="95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72108" y="3356521"/>
            <a:ext cx="677466" cy="355402"/>
          </a:xfrm>
          <a:prstGeom prst="roundRect">
            <a:avLst>
              <a:gd name="adj" fmla="val 10720"/>
            </a:avLst>
          </a:prstGeom>
          <a:solidFill>
            <a:srgbClr val="F4F8FA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13910" y="3391347"/>
            <a:ext cx="5938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
</a:t>
            </a:r>
            <a:r>
              <a:rPr lang="en-US" sz="95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1325" y="3762673"/>
            <a:ext cx="2133749" cy="355402"/>
          </a:xfrm>
          <a:prstGeom prst="roundRect">
            <a:avLst>
              <a:gd name="adj" fmla="val 10720"/>
            </a:avLst>
          </a:prstGeom>
          <a:solidFill>
            <a:srgbClr val="F4F8FA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8565" y="3797499"/>
            <a:ext cx="20792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
</a:t>
            </a:r>
            <a:r>
              <a:rPr lang="en-US" sz="95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15824" y="3762673"/>
            <a:ext cx="2133749" cy="355402"/>
          </a:xfrm>
          <a:prstGeom prst="roundRect">
            <a:avLst>
              <a:gd name="adj" fmla="val 10720"/>
            </a:avLst>
          </a:prstGeom>
          <a:solidFill>
            <a:srgbClr val="F4F8FA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643064" y="3797499"/>
            <a:ext cx="20792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
</a:t>
            </a:r>
            <a:r>
              <a:rPr lang="en-US" sz="95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31325" y="4156174"/>
            <a:ext cx="4318248" cy="22860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50375" y="4156174"/>
            <a:ext cx="0" cy="228600"/>
          </a:xfrm>
          <a:prstGeom prst="line">
            <a:avLst/>
          </a:prstGeom>
          <a:noFill/>
          <a:ln w="381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5625" y="4194274"/>
            <a:ext cx="42103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Tri-Tier Stress Levels:</a:t>
            </a:r>
            <a:r>
              <a:rPr lang="en-US" sz="9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 (&lt;0.35) | Moderate (0.35–0.69) | High (≥0.70)</a:t>
            </a:r>
            <a:endParaRPr lang="en-US" sz="950" dirty="0"/>
          </a:p>
        </p:txBody>
      </p:sp>
      <p:pic>
        <p:nvPicPr>
          <p:cNvPr id="32" name="Image 0" descr="D:\ICBT\Final\digital-therapy-agent\presentation\slides\img\EVID-SS-050_stress_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551" y="733871"/>
            <a:ext cx="3714899" cy="177447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036402" y="2571750"/>
            <a:ext cx="37891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4: Real-Time Somatic Stress Gauge</a:t>
            </a:r>
            <a:endParaRPr lang="en-US" sz="1000" dirty="0"/>
          </a:p>
        </p:txBody>
      </p:sp>
      <p:pic>
        <p:nvPicPr>
          <p:cNvPr id="34" name="Image 1" descr="D:\ICBT\Final\digital-therapy-agent\presentation\slides\img\EVID-SS-032_emotio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551" y="2774900"/>
            <a:ext cx="3714899" cy="177447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036402" y="4612779"/>
            <a:ext cx="37891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5: 7-Class Emotion Probability Telemetry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55550" y="574625"/>
            <a:ext cx="843289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55550" y="152400"/>
            <a:ext cx="860155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Therapy, Multilingual Support &amp; Privacy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9837" y="616064"/>
            <a:ext cx="4540300" cy="1652172"/>
          </a:xfrm>
          <a:prstGeom prst="roundRect">
            <a:avLst>
              <a:gd name="adj" fmla="val 44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 flipH="1">
            <a:off x="377220" y="609599"/>
            <a:ext cx="6901" cy="1652170"/>
          </a:xfrm>
          <a:prstGeom prst="line">
            <a:avLst/>
          </a:prstGeom>
          <a:noFill/>
          <a:ln w="38100">
            <a:solidFill>
              <a:srgbClr val="0D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5151" y="669875"/>
            <a:ext cx="43754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CONSTRAINED CBT THERAPY ENGINE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5151" y="996826"/>
            <a:ext cx="4289673" cy="117606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187"/>
              </a:lnSpc>
              <a:spcAft>
                <a:spcPts val="150"/>
              </a:spcAft>
              <a:buSzPct val="100000"/>
              <a:buChar char="•"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Empathy-First Rule: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Validates feelings before suggesting exercises.</a:t>
            </a:r>
            <a:endParaRPr lang="en-US" sz="1100" dirty="0"/>
          </a:p>
          <a:p>
            <a:pPr marL="88900" indent="-88900" algn="l">
              <a:lnSpc>
                <a:spcPts val="1187"/>
              </a:lnSpc>
              <a:spcAft>
                <a:spcPts val="150"/>
              </a:spcAft>
              <a:buSzPct val="100000"/>
              <a:buChar char="•"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5-Stage State Machine: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Crisis, Coping, Early Listening, Exploration, De-escalation.</a:t>
            </a:r>
            <a:endParaRPr lang="en-US" sz="1100" dirty="0"/>
          </a:p>
          <a:p>
            <a:pPr marL="88900" indent="-88900" algn="l">
              <a:lnSpc>
                <a:spcPts val="1187"/>
              </a:lnSpc>
              <a:spcAft>
                <a:spcPts val="150"/>
              </a:spcAft>
              <a:buSzPct val="100000"/>
              <a:buChar char="•"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Local Fallback: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 rule engine if LLM exceeds 1.5s.</a:t>
            </a:r>
            <a:endParaRPr lang="en-US" sz="1100" dirty="0"/>
          </a:p>
          <a:p>
            <a:pPr marL="88900" indent="-88900" algn="l">
              <a:lnSpc>
                <a:spcPts val="1187"/>
              </a:lnSpc>
              <a:spcAft>
                <a:spcPts val="150"/>
              </a:spcAft>
              <a:buSzPct val="100000"/>
              <a:buChar char="•"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Non-Clinical: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Guided wellness decompression only.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0318" y="2396579"/>
            <a:ext cx="4540300" cy="1136301"/>
          </a:xfrm>
          <a:prstGeom prst="roundRect">
            <a:avLst>
              <a:gd name="adj" fmla="val 62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 flipH="1">
            <a:off x="373884" y="2396580"/>
            <a:ext cx="3337" cy="113630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5150" y="2456884"/>
            <a:ext cx="43754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TRILINGUAL CULTURAL LOCALIZATION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5151" y="2763143"/>
            <a:ext cx="4289673" cy="47133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187"/>
              </a:lnSpc>
              <a:spcAft>
                <a:spcPts val="15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native UI scripts &amp; dialogue in </a:t>
            </a: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English, Sinhala, and Tamil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  <a:p>
            <a:pPr marL="88900" indent="-88900" algn="l">
              <a:lnSpc>
                <a:spcPts val="1187"/>
              </a:lnSpc>
              <a:spcAft>
                <a:spcPts val="150"/>
              </a:spcAft>
              <a:buSzPct val="100000"/>
              <a:buChar char="•"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Note: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Browser-native TTS; regional Sinhala/Tamil voice availability depends on host browser/OS.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7757" y="3661223"/>
            <a:ext cx="4540300" cy="1325139"/>
          </a:xfrm>
          <a:prstGeom prst="roundRect">
            <a:avLst>
              <a:gd name="adj" fmla="val 61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78409" y="3693770"/>
            <a:ext cx="5712" cy="1318672"/>
          </a:xfrm>
          <a:prstGeom prst="line">
            <a:avLst/>
          </a:prstGeom>
          <a:noFill/>
          <a:ln w="381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0383" y="3764315"/>
            <a:ext cx="43754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PRIVACY-CONSCIOUS ARCHITECTURE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92890" y="4011513"/>
            <a:ext cx="4289673" cy="49038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187"/>
              </a:lnSpc>
              <a:spcAft>
                <a:spcPts val="150"/>
              </a:spcAft>
              <a:buSzPct val="100000"/>
              <a:buChar char="•"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In-Memory Processing: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 server-side raw video saving.</a:t>
            </a:r>
            <a:endParaRPr lang="en-US" sz="1100" dirty="0"/>
          </a:p>
          <a:p>
            <a:pPr marL="88900" indent="-88900" algn="l">
              <a:lnSpc>
                <a:spcPts val="1187"/>
              </a:lnSpc>
              <a:spcAft>
                <a:spcPts val="150"/>
              </a:spcAft>
              <a:buSzPct val="100000"/>
              <a:buChar char="•"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Privacy Masking: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Client-side Gaussian blur for camera feed.</a:t>
            </a:r>
            <a:endParaRPr lang="en-US" sz="1100" dirty="0"/>
          </a:p>
          <a:p>
            <a:pPr marL="88900" indent="-88900" algn="l">
              <a:lnSpc>
                <a:spcPts val="1187"/>
              </a:lnSpc>
              <a:spcAft>
                <a:spcPts val="150"/>
              </a:spcAft>
              <a:buSzPct val="100000"/>
              <a:buChar char="•"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User-Scoped Storage: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Isolated SQLite chat records with GDPR purge.</a:t>
            </a:r>
            <a:endParaRPr lang="en-US" sz="1100" dirty="0"/>
          </a:p>
        </p:txBody>
      </p:sp>
      <p:pic>
        <p:nvPicPr>
          <p:cNvPr id="26" name="Image 0" descr="D:\ICBT\Final\digital-therapy-agent\presentation\slides\img\EVID-SS-003_therapy_inte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551" y="920948"/>
            <a:ext cx="3714899" cy="1587401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036402" y="2571750"/>
            <a:ext cx="37891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6: Guided CBT Therapy Workspace</a:t>
            </a:r>
            <a:endParaRPr lang="en-US" sz="950" dirty="0"/>
          </a:p>
        </p:txBody>
      </p:sp>
      <p:pic>
        <p:nvPicPr>
          <p:cNvPr id="28" name="Image 1" descr="D:\ICBT\Final\digital-therapy-agent\presentation\slides\img\EVID-SS-130_privacy_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551" y="2774900"/>
            <a:ext cx="3714899" cy="1587401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036402" y="4425702"/>
            <a:ext cx="37891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7: Privacy Settings &amp; Sensor Permissions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55550" y="574625"/>
            <a:ext cx="843289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55550" y="152400"/>
            <a:ext cx="860155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Empirical Validation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5550" y="609600"/>
            <a:ext cx="4334024" cy="977801"/>
          </a:xfrm>
          <a:prstGeom prst="roundRect">
            <a:avLst>
              <a:gd name="adj" fmla="val 6494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55550" y="614363"/>
            <a:ext cx="4334024" cy="0"/>
          </a:xfrm>
          <a:prstGeom prst="line">
            <a:avLst/>
          </a:prstGeom>
          <a:noFill/>
          <a:ln w="9525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684812" y="609600"/>
            <a:ext cx="0" cy="977801"/>
          </a:xfrm>
          <a:prstGeom prst="line">
            <a:avLst/>
          </a:prstGeom>
          <a:noFill/>
          <a:ln w="9525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55550" y="1582638"/>
            <a:ext cx="4334024" cy="0"/>
          </a:xfrm>
          <a:prstGeom prst="line">
            <a:avLst/>
          </a:prstGeom>
          <a:noFill/>
          <a:ln w="9525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125" y="609600"/>
            <a:ext cx="0" cy="977801"/>
          </a:xfrm>
          <a:prstGeom prst="line">
            <a:avLst/>
          </a:prstGeom>
          <a:noFill/>
          <a:ln w="571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9651" y="695325"/>
            <a:ext cx="409371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 AUTOMATED TESTS PASSED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9651" y="1349276"/>
            <a:ext cx="40937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Pass Rate across Integration &amp; Security Test Suite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5550" y="1841302"/>
            <a:ext cx="4334024" cy="2178545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D0D8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2026" y="1963589"/>
            <a:ext cx="41422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SYSTEM CAPABILITIES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2026" y="2185790"/>
            <a:ext cx="4061073" cy="169296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187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JWT: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24h HS256 lifecycle &amp; identity resolution (/auth/me).</a:t>
            </a:r>
            <a:endParaRPr lang="en-US" sz="1000" dirty="0"/>
          </a:p>
          <a:p>
            <a:pPr marL="88900" indent="-88900" algn="l">
              <a:lnSpc>
                <a:spcPts val="1187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RBAC Guards: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User, Admin, Super Admin 403 authorization blocks.</a:t>
            </a:r>
            <a:endParaRPr lang="en-US" sz="1000" dirty="0"/>
          </a:p>
          <a:p>
            <a:pPr marL="88900" indent="-88900" algn="l">
              <a:lnSpc>
                <a:spcPts val="1187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Behaviour: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SQLite schema integrity &amp; cascading deletion.</a:t>
            </a:r>
            <a:endParaRPr lang="en-US" sz="1000" dirty="0"/>
          </a:p>
          <a:p>
            <a:pPr marL="88900" indent="-88900" algn="l">
              <a:lnSpc>
                <a:spcPts val="1187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Isolation: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User-scoped queries preventing cross-tenant leakage.</a:t>
            </a:r>
            <a:endParaRPr lang="en-US" sz="1000" dirty="0"/>
          </a:p>
          <a:p>
            <a:pPr marL="88900" indent="-88900" algn="l">
              <a:lnSpc>
                <a:spcPts val="1187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Reliability: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Heartbeat monitor &amp; non-blocking queues.</a:t>
            </a:r>
            <a:endParaRPr lang="en-US" sz="1000" dirty="0"/>
          </a:p>
          <a:p>
            <a:pPr marL="88900" indent="-88900" algn="l">
              <a:lnSpc>
                <a:spcPts val="1187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Health Checks: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Facial, vocal &amp; tabular weights loaded successfully.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5550" y="4325816"/>
            <a:ext cx="4334024" cy="563784"/>
          </a:xfrm>
          <a:prstGeom prst="roundRect">
            <a:avLst>
              <a:gd name="adj" fmla="val 9839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55550" y="4325816"/>
            <a:ext cx="19050" cy="563783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8587" y="4426000"/>
            <a:ext cx="41747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Distinction:</a:t>
            </a:r>
            <a:r>
              <a:rPr lang="en-US" sz="1000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Automated tests validate system integration; ML accuracy is verified on held-out test partitions (FER-2013 &amp; RAVDESS).</a:t>
            </a:r>
            <a:endParaRPr lang="en-US" sz="1000" dirty="0"/>
          </a:p>
        </p:txBody>
      </p:sp>
      <p:pic>
        <p:nvPicPr>
          <p:cNvPr id="18" name="Image 0" descr="D:\ICBT\Final\digital-therapy-agent\presentation\slides\img\EVID-SS-140_test_exec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275" y="1276052"/>
            <a:ext cx="3921175" cy="274379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828063" y="4070598"/>
            <a:ext cx="39995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8: Automated Test Suite Terminal Output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55550" y="574625"/>
            <a:ext cx="843289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55550" y="152400"/>
            <a:ext cx="860155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Artefact Demonstration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5550" y="609600"/>
            <a:ext cx="4746724" cy="294977"/>
          </a:xfrm>
          <a:prstGeom prst="roundRect">
            <a:avLst>
              <a:gd name="adj" fmla="val 17222"/>
            </a:avLst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051" y="671364"/>
            <a:ext cx="2833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EXECUTION FLOW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2163" y="1684957"/>
            <a:ext cx="2347913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2163" y="1689719"/>
            <a:ext cx="2347913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65313" y="1684957"/>
            <a:ext cx="0" cy="406301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2163" y="2086495"/>
            <a:ext cx="2347913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1213" y="1684957"/>
            <a:ext cx="0" cy="406301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0415" y="1745232"/>
            <a:ext cx="20162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Services: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FastAPI &amp; ML Active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20826" y="1684957"/>
            <a:ext cx="2348061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720826" y="1689719"/>
            <a:ext cx="2348061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64125" y="1684957"/>
            <a:ext cx="0" cy="406301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20826" y="2086495"/>
            <a:ext cx="2348061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39876" y="1684957"/>
            <a:ext cx="0" cy="406301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19078" y="1745232"/>
            <a:ext cx="20164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Login: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JWT Auth &amp; 3-Tier Roles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2163" y="2142008"/>
            <a:ext cx="2347913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2163" y="2146770"/>
            <a:ext cx="2347913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665313" y="2142008"/>
            <a:ext cx="0" cy="406301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2163" y="2543546"/>
            <a:ext cx="2347913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1213" y="2142008"/>
            <a:ext cx="0" cy="406301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0415" y="2202283"/>
            <a:ext cx="20162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&amp; Mic: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WebRTC &amp; Privacy Blur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20826" y="2142008"/>
            <a:ext cx="2348061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2720826" y="2146770"/>
            <a:ext cx="2348061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64125" y="2142008"/>
            <a:ext cx="0" cy="406301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20826" y="2543546"/>
            <a:ext cx="2348061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39876" y="2142008"/>
            <a:ext cx="0" cy="406301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019078" y="2273721"/>
            <a:ext cx="18265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 Emotion: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7-Class Visual ML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2163" y="2599059"/>
            <a:ext cx="2347913" cy="272951"/>
          </a:xfrm>
          <a:prstGeom prst="roundRect">
            <a:avLst>
              <a:gd name="adj" fmla="val 186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22163" y="2603822"/>
            <a:ext cx="2347913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665313" y="2599059"/>
            <a:ext cx="0" cy="272951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2163" y="2867247"/>
            <a:ext cx="2347913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41213" y="2599059"/>
            <a:ext cx="0" cy="272951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0415" y="2664097"/>
            <a:ext cx="1991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Emotion: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40 MFCC Classifier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20826" y="2599059"/>
            <a:ext cx="2348061" cy="272951"/>
          </a:xfrm>
          <a:prstGeom prst="roundRect">
            <a:avLst>
              <a:gd name="adj" fmla="val 186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2720826" y="2603822"/>
            <a:ext cx="2348061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064125" y="2599059"/>
            <a:ext cx="0" cy="272951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20826" y="2867247"/>
            <a:ext cx="2348061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739876" y="2599059"/>
            <a:ext cx="0" cy="272951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019078" y="2664097"/>
            <a:ext cx="17876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Fusion: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Stress Gauge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2163" y="2922760"/>
            <a:ext cx="2347913" cy="272951"/>
          </a:xfrm>
          <a:prstGeom prst="roundRect">
            <a:avLst>
              <a:gd name="adj" fmla="val 186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322163" y="2927523"/>
            <a:ext cx="2347913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665313" y="2922760"/>
            <a:ext cx="0" cy="272951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22163" y="3190949"/>
            <a:ext cx="2347913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41213" y="2922760"/>
            <a:ext cx="0" cy="272951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0415" y="2987799"/>
            <a:ext cx="1922709" cy="142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Toggle: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/ SI / TA i18n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20826" y="2922760"/>
            <a:ext cx="2381448" cy="272951"/>
          </a:xfrm>
          <a:prstGeom prst="roundRect">
            <a:avLst>
              <a:gd name="adj" fmla="val 186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2720826" y="2927523"/>
            <a:ext cx="2348061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064125" y="2922760"/>
            <a:ext cx="0" cy="272951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720826" y="3190949"/>
            <a:ext cx="2348061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739876" y="2922760"/>
            <a:ext cx="0" cy="272951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019077" y="2987798"/>
            <a:ext cx="1958221" cy="147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Support: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Empathy-First CBT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22163" y="3246461"/>
            <a:ext cx="2347913" cy="272951"/>
          </a:xfrm>
          <a:prstGeom prst="roundRect">
            <a:avLst>
              <a:gd name="adj" fmla="val 186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322163" y="3251224"/>
            <a:ext cx="2347913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665313" y="3246461"/>
            <a:ext cx="0" cy="272951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322163" y="3514650"/>
            <a:ext cx="2347913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41213" y="3246461"/>
            <a:ext cx="0" cy="272951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20415" y="3311499"/>
            <a:ext cx="19722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De-escalation: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Box Breathing Overlay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720826" y="3246461"/>
            <a:ext cx="2348061" cy="272951"/>
          </a:xfrm>
          <a:prstGeom prst="roundRect">
            <a:avLst>
              <a:gd name="adj" fmla="val 186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2720826" y="3251224"/>
            <a:ext cx="2348061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064125" y="3246461"/>
            <a:ext cx="0" cy="272951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720826" y="3514650"/>
            <a:ext cx="2348061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739876" y="3246461"/>
            <a:ext cx="0" cy="272951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019078" y="3311499"/>
            <a:ext cx="18265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Governance: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RBAC &amp; Logs</a:t>
            </a:r>
            <a:endParaRPr lang="en-US" sz="900" dirty="0"/>
          </a:p>
        </p:txBody>
      </p:sp>
      <p:pic>
        <p:nvPicPr>
          <p:cNvPr id="67" name="Image 0" descr="D:\ICBT\Final\digital-therapy-agent\presentation\slides\img\EVID-SS-080_box_breathing_inte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975" y="831949"/>
            <a:ext cx="3508474" cy="1676400"/>
          </a:xfrm>
          <a:prstGeom prst="rect">
            <a:avLst/>
          </a:prstGeom>
        </p:spPr>
      </p:pic>
      <p:sp>
        <p:nvSpPr>
          <p:cNvPr id="68" name="Text 65"/>
          <p:cNvSpPr/>
          <p:nvPr/>
        </p:nvSpPr>
        <p:spPr>
          <a:xfrm>
            <a:off x="5244891" y="2571750"/>
            <a:ext cx="35786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9: Box Breathing De-escalation</a:t>
            </a:r>
            <a:endParaRPr lang="en-US" sz="1000" dirty="0"/>
          </a:p>
        </p:txBody>
      </p:sp>
      <p:pic>
        <p:nvPicPr>
          <p:cNvPr id="69" name="Image 1" descr="D:\ICBT\Final\digital-therapy-agent\presentation\slides\img\EVID-SS-120_admin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975" y="2774900"/>
            <a:ext cx="3508474" cy="1676400"/>
          </a:xfrm>
          <a:prstGeom prst="rect">
            <a:avLst/>
          </a:prstGeom>
        </p:spPr>
      </p:pic>
      <p:sp>
        <p:nvSpPr>
          <p:cNvPr id="70" name="Text 66"/>
          <p:cNvSpPr/>
          <p:nvPr/>
        </p:nvSpPr>
        <p:spPr>
          <a:xfrm>
            <a:off x="5244891" y="4514701"/>
            <a:ext cx="35786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10: Admin Panel &amp; Governance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55550" y="574625"/>
            <a:ext cx="843289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55550" y="152400"/>
            <a:ext cx="860155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Evaluation: System Limitations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5550" y="609593"/>
            <a:ext cx="4165699" cy="1378702"/>
          </a:xfrm>
          <a:prstGeom prst="roundRect">
            <a:avLst>
              <a:gd name="adj" fmla="val 7279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8760" y="642789"/>
            <a:ext cx="0" cy="1345506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4675" y="695325"/>
            <a:ext cx="3216215" cy="21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• Visual Domain Gap (FER-2013)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93" y="1028016"/>
            <a:ext cx="3983659" cy="76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3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FER-2013 contains </a:t>
            </a: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low-resolution (48×48) grayscale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crops with ~65% human agreement ceiling. MobileNetV2 underperformed baseline CNN (40.53% vs 61.90%) due to ImageNet feature mismatch.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22750" y="609599"/>
            <a:ext cx="4165699" cy="1378693"/>
          </a:xfrm>
          <a:prstGeom prst="roundRect">
            <a:avLst>
              <a:gd name="adj" fmla="val 7279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6562" y="609600"/>
            <a:ext cx="17373" cy="1378692"/>
          </a:xfrm>
          <a:prstGeom prst="line">
            <a:avLst/>
          </a:prstGeom>
          <a:noFill/>
          <a:ln w="47625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71875" y="695324"/>
            <a:ext cx="3109946" cy="252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• Platform Dependency (TTS)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36039" y="1047710"/>
            <a:ext cx="3983659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Browser-native neural voice synthesis in </a:t>
            </a: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Sinhala and Tamil relies on OS-level voice pack availability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requiring cloud fallbacks on unsupported client environments.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9200" y="2267456"/>
            <a:ext cx="4165699" cy="1523238"/>
          </a:xfrm>
          <a:prstGeom prst="roundRect">
            <a:avLst>
              <a:gd name="adj" fmla="val 7279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 flipH="1">
            <a:off x="349200" y="2282429"/>
            <a:ext cx="20638" cy="1508265"/>
          </a:xfrm>
          <a:prstGeom prst="line">
            <a:avLst/>
          </a:prstGeom>
          <a:noFill/>
          <a:ln w="476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7473" y="2377129"/>
            <a:ext cx="2860976" cy="20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• Environmental Sensitivity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0539" y="2738302"/>
            <a:ext cx="3983659" cy="701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3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emotion recognition is susceptible to </a:t>
            </a: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ambient noise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microphone hardware; facial classification degrades under poor illumination and head rotation.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3226" y="2289205"/>
            <a:ext cx="4165699" cy="1501489"/>
          </a:xfrm>
          <a:prstGeom prst="roundRect">
            <a:avLst>
              <a:gd name="adj" fmla="val 7279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 flipH="1">
            <a:off x="4663945" y="2296691"/>
            <a:ext cx="7270" cy="1479739"/>
          </a:xfrm>
          <a:prstGeom prst="line">
            <a:avLst/>
          </a:prstGeom>
          <a:noFill/>
          <a:ln w="47625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36039" y="2373537"/>
            <a:ext cx="3303646" cy="258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• Evaluation Constraint &amp; Scope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771875" y="2738302"/>
            <a:ext cx="3983659" cy="480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3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unified multimodal benchmark metric exists because models were evaluated independently; system is </a:t>
            </a: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non-clinical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without formal longitudinal trials.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0788" y="4224040"/>
            <a:ext cx="8432899" cy="492323"/>
          </a:xfrm>
          <a:prstGeom prst="roundRect">
            <a:avLst>
              <a:gd name="adj" fmla="val 10318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50788" y="4228802"/>
            <a:ext cx="8432899" cy="0"/>
          </a:xfrm>
          <a:prstGeom prst="line">
            <a:avLst/>
          </a:prstGeom>
          <a:noFill/>
          <a:ln w="9525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778925" y="4224040"/>
            <a:ext cx="0" cy="492323"/>
          </a:xfrm>
          <a:prstGeom prst="line">
            <a:avLst/>
          </a:prstGeom>
          <a:noFill/>
          <a:ln w="9525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50788" y="4711601"/>
            <a:ext cx="8432899" cy="0"/>
          </a:xfrm>
          <a:prstGeom prst="line">
            <a:avLst/>
          </a:prstGeom>
          <a:noFill/>
          <a:ln w="9525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9838" y="4224040"/>
            <a:ext cx="0" cy="492323"/>
          </a:xfrm>
          <a:prstGeom prst="line">
            <a:avLst/>
          </a:prstGeom>
          <a:noFill/>
          <a:ln w="381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0389" y="4296966"/>
            <a:ext cx="834591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Integrity Note:</a:t>
            </a:r>
            <a:r>
              <a:rPr lang="en-US" sz="10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Empirical limitations are presented transparently as engineering findings rather than failures; no unified multimodal accuracy is claimed without paired benchmark verification.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11">
            <a:extLst>
              <a:ext uri="{FF2B5EF4-FFF2-40B4-BE49-F238E27FC236}">
                <a16:creationId xmlns:a16="http://schemas.microsoft.com/office/drawing/2014/main" id="{FF014772-F276-6916-59D2-5772A119EF29}"/>
              </a:ext>
            </a:extLst>
          </p:cNvPr>
          <p:cNvSpPr/>
          <p:nvPr/>
        </p:nvSpPr>
        <p:spPr>
          <a:xfrm>
            <a:off x="6028283" y="593676"/>
            <a:ext cx="2760166" cy="1978933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55550" y="574625"/>
            <a:ext cx="843289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55550" y="152400"/>
            <a:ext cx="860155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 &amp; Strategic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5550" y="609600"/>
            <a:ext cx="2760166" cy="1959886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55550" y="628650"/>
            <a:ext cx="2760166" cy="0"/>
          </a:xfrm>
          <a:prstGeom prst="line">
            <a:avLst/>
          </a:prstGeom>
          <a:noFill/>
          <a:ln w="38100">
            <a:solidFill>
              <a:srgbClr val="0D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10954" y="609600"/>
            <a:ext cx="0" cy="1190625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0313" y="609600"/>
            <a:ext cx="0" cy="1190625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576" y="723900"/>
            <a:ext cx="2588877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• DATA &amp; TEMPORAL MODELS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576" y="880765"/>
            <a:ext cx="25888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Datasets &amp; Transformers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0714" y="1400770"/>
            <a:ext cx="2588877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35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synchronized audio-visual corpora (e.g. </a:t>
            </a: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CREMA-D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deploy </a:t>
            </a: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Transformers (ViT)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FER and </a:t>
            </a: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wav2vec 2.0 / LSTM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temporal speech dynamics.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91917" y="609600"/>
            <a:ext cx="2760166" cy="1978933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191917" y="628650"/>
            <a:ext cx="2760166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7321" y="609600"/>
            <a:ext cx="0" cy="1190625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96679" y="609600"/>
            <a:ext cx="0" cy="1190625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02943" y="723900"/>
            <a:ext cx="2588877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• ADVANCED FUSION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02943" y="880765"/>
            <a:ext cx="25888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Attention-Based Dynamic Fusion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52181" y="1417371"/>
            <a:ext cx="2588877" cy="1482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35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static 50/50 probability averaging with </a:t>
            </a: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cross-attention mechanisms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dynamically weight modalities based on acoustic SNR and face visibility.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28283" y="628650"/>
            <a:ext cx="2760166" cy="0"/>
          </a:xfrm>
          <a:prstGeom prst="line">
            <a:avLst/>
          </a:prstGeom>
          <a:noFill/>
          <a:ln w="381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39309" y="723900"/>
            <a:ext cx="2588877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• PHYSIOLOGICAL SENSING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39309" y="880765"/>
            <a:ext cx="25888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Biometric Telemetry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49565" y="1400769"/>
            <a:ext cx="2588877" cy="929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35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Bluetooth smart bands for non-invasive </a:t>
            </a: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 Variability (HRV) and Electrodermal Activity (EDA)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enhance objective stress profiling.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4600" y="2963215"/>
            <a:ext cx="8432899" cy="1042702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60313" y="2963215"/>
            <a:ext cx="8432899" cy="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3384" y="3053711"/>
            <a:ext cx="8375065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• CLINICAL VALIDATION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00714" y="3245233"/>
            <a:ext cx="83750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Clinical Evaluation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09848" y="3561339"/>
            <a:ext cx="8375065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an </a:t>
            </a: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IRB-approved multi-user study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collaboration with certified psychiatrists to validate longitudinal therapeutic efficacy in Sri Lankan clinical settings.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5550" y="4416326"/>
            <a:ext cx="8432899" cy="473273"/>
          </a:xfrm>
          <a:prstGeom prst="roundRect">
            <a:avLst>
              <a:gd name="adj" fmla="val 10734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74600" y="4416326"/>
            <a:ext cx="0" cy="473273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5151" y="4479727"/>
            <a:ext cx="835563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100" b="1" dirty="0">
                <a:solidFill>
                  <a:srgbClr val="0077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Vision:</a:t>
            </a:r>
            <a:r>
              <a:rPr lang="en-US" sz="1100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Evolving MindCare from a non-clinical affective companion into an evidence-based digital therapeutic platform for low-resource global mental health.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4F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55550" y="574625"/>
            <a:ext cx="843289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55550" y="152400"/>
            <a:ext cx="860155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5550" y="609600"/>
            <a:ext cx="4502795" cy="4279999"/>
          </a:xfrm>
          <a:prstGeom prst="roundRect">
            <a:avLst>
              <a:gd name="adj" fmla="val 178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55550" y="628650"/>
            <a:ext cx="4502795" cy="0"/>
          </a:xfrm>
          <a:prstGeom prst="line">
            <a:avLst/>
          </a:prstGeom>
          <a:noFill/>
          <a:ln w="38100">
            <a:solidFill>
              <a:srgbClr val="0D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53583" y="609600"/>
            <a:ext cx="0" cy="4279999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55550" y="4884837"/>
            <a:ext cx="4502795" cy="0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0313" y="609600"/>
            <a:ext cx="0" cy="4279999"/>
          </a:xfrm>
          <a:prstGeom prst="line">
            <a:avLst/>
          </a:prstGeom>
          <a:noFill/>
          <a:ln w="9525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7475" y="749201"/>
            <a:ext cx="42625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D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PROJECT OUTCOMES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7475" y="1015901"/>
            <a:ext cx="4178945" cy="355297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35"/>
              </a:lnSpc>
              <a:spcAft>
                <a:spcPts val="350"/>
              </a:spcAft>
              <a:buSzPct val="100000"/>
              <a:buChar char="•"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Trilingual &amp; Multimodal Companion: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Developed an accessible, privacy-conscious AI-based wellness platform.</a:t>
            </a:r>
            <a:endParaRPr lang="en-US" sz="1100" dirty="0"/>
          </a:p>
          <a:p>
            <a:pPr marL="88900" indent="-88900" algn="l">
              <a:lnSpc>
                <a:spcPts val="1235"/>
              </a:lnSpc>
              <a:spcAft>
                <a:spcPts val="350"/>
              </a:spcAft>
              <a:buSzPct val="100000"/>
              <a:buChar char="•"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Affective Sensing: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Integrated facial and speech emotion recognition to estimate emotional states.</a:t>
            </a:r>
            <a:endParaRPr lang="en-US" sz="1100" dirty="0"/>
          </a:p>
          <a:p>
            <a:pPr marL="88900" indent="-88900" algn="l">
              <a:lnSpc>
                <a:spcPts val="1235"/>
              </a:lnSpc>
              <a:spcAft>
                <a:spcPts val="350"/>
              </a:spcAft>
              <a:buSzPct val="100000"/>
              <a:buChar char="•"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Late Fusion: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Combined visual and acoustic probability distributions with conflict logic.</a:t>
            </a:r>
            <a:endParaRPr lang="en-US" sz="1100" dirty="0"/>
          </a:p>
          <a:p>
            <a:pPr marL="88900" indent="-88900" algn="l">
              <a:lnSpc>
                <a:spcPts val="1235"/>
              </a:lnSpc>
              <a:spcAft>
                <a:spcPts val="350"/>
              </a:spcAft>
              <a:buSzPct val="100000"/>
              <a:buChar char="•"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CBT Guidance: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Implemented a 5-stage CBT state machine with deterministic local fallback.</a:t>
            </a:r>
            <a:endParaRPr lang="en-US" sz="1100" dirty="0"/>
          </a:p>
          <a:p>
            <a:pPr marL="88900" indent="-88900" algn="l">
              <a:lnSpc>
                <a:spcPts val="1235"/>
              </a:lnSpc>
              <a:spcAft>
                <a:spcPts val="350"/>
              </a:spcAft>
              <a:buSzPct val="100000"/>
              <a:buChar char="•"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Localization: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Delivered English, Sinhala, and Tamil accessibility with speech interaction.</a:t>
            </a:r>
            <a:endParaRPr lang="en-US" sz="1100" dirty="0"/>
          </a:p>
          <a:p>
            <a:pPr marL="88900" indent="-88900" algn="l">
              <a:lnSpc>
                <a:spcPts val="1235"/>
              </a:lnSpc>
              <a:spcAft>
                <a:spcPts val="350"/>
              </a:spcAft>
              <a:buSzPct val="100000"/>
              <a:buChar char="•"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Privacy-Conscious Architecture: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Enforced in-memory media processing and user consent controls.</a:t>
            </a:r>
            <a:endParaRPr lang="en-US" sz="1100" dirty="0"/>
          </a:p>
          <a:p>
            <a:pPr marL="88900" indent="-88900" algn="l">
              <a:lnSpc>
                <a:spcPts val="1235"/>
              </a:lnSpc>
              <a:spcAft>
                <a:spcPts val="350"/>
              </a:spcAft>
              <a:buSzPct val="100000"/>
              <a:buChar char="•"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Verification: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Validated core system functionality through </a:t>
            </a: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 automated tests passed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6607" y="634975"/>
            <a:ext cx="3752404" cy="2073325"/>
          </a:xfrm>
          <a:prstGeom prst="roundRect">
            <a:avLst>
              <a:gd name="adj" fmla="val 3675"/>
            </a:avLst>
          </a:prstGeom>
          <a:solidFill>
            <a:srgbClr val="FFF8E1"/>
          </a:solidFill>
          <a:ln/>
          <a:effectLst>
            <a:outerShdw blurRad="50800" dist="25400" dir="5400000" algn="bl" rotWithShape="0">
              <a:srgbClr val="000000">
                <a:alpha val="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36046" y="614363"/>
            <a:ext cx="3702961" cy="20612"/>
          </a:xfrm>
          <a:prstGeom prst="line">
            <a:avLst/>
          </a:prstGeom>
          <a:noFill/>
          <a:ln w="9525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739011" y="609600"/>
            <a:ext cx="0" cy="2073325"/>
          </a:xfrm>
          <a:prstGeom prst="line">
            <a:avLst/>
          </a:prstGeom>
          <a:noFill/>
          <a:ln w="9525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09560" y="2678162"/>
            <a:ext cx="3629447" cy="0"/>
          </a:xfrm>
          <a:prstGeom prst="line">
            <a:avLst/>
          </a:prstGeom>
          <a:noFill/>
          <a:ln w="9525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59859" y="609600"/>
            <a:ext cx="0" cy="2073325"/>
          </a:xfrm>
          <a:prstGeom prst="line">
            <a:avLst/>
          </a:prstGeom>
          <a:noFill/>
          <a:ln w="47625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36071" y="1102072"/>
            <a:ext cx="34582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36071" y="1333798"/>
            <a:ext cx="3458263" cy="85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empirical evaluation demonstrated the feasibility of combining multimodal emotion recognition with guided non-clinical wellness support, while also identifying limitations in individual model performance, environmental robustness and multimodal benchmark evaluation.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36046" y="2784425"/>
            <a:ext cx="3752404" cy="2105174"/>
          </a:xfrm>
          <a:prstGeom prst="roundRect">
            <a:avLst>
              <a:gd name="adj" fmla="val 3620"/>
            </a:avLst>
          </a:prstGeom>
          <a:solidFill>
            <a:srgbClr val="0D4F4F"/>
          </a:solidFill>
          <a:ln/>
          <a:effectLst>
            <a:outerShdw blurRad="76200" dist="38100" dir="5400000" algn="bl" rotWithShape="0">
              <a:srgbClr val="0D4F4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059859" y="2784425"/>
            <a:ext cx="0" cy="2105174"/>
          </a:xfrm>
          <a:prstGeom prst="line">
            <a:avLst/>
          </a:prstGeom>
          <a:noFill/>
          <a:ln w="476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36071" y="3427809"/>
            <a:ext cx="34679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0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TAKEAWAY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6071" y="3659535"/>
            <a:ext cx="3467978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MindCare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demonstrates a practical foundation for an accessible, multilingual and safety-conscious AI-assisted wellness companion.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823615"/>
            <a:ext cx="829066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26669" y="1357015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4050" y="1721941"/>
            <a:ext cx="1015901" cy="44351"/>
          </a:xfrm>
          <a:prstGeom prst="roundRect">
            <a:avLst>
              <a:gd name="adj" fmla="val 57270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27370" y="2236959"/>
            <a:ext cx="54892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Haputhanthirige Thushara Lahiru Kavishal (Lahiru Kavishal)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26191" y="2734967"/>
            <a:ext cx="60916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250" dirty="0">
                <a:solidFill>
                  <a:srgbClr val="A0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</a:t>
            </a:r>
            <a:r>
              <a:rPr lang="en-US" sz="1250" b="1" dirty="0">
                <a:solidFill>
                  <a:srgbClr val="A0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T.S.A. Gunawardena</a:t>
            </a:r>
            <a:r>
              <a:rPr lang="en-US" sz="1250" dirty="0">
                <a:solidFill>
                  <a:srgbClr val="A0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Cardiff Metropolitan University / ICBT Campus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7950" y="3207590"/>
            <a:ext cx="8128099" cy="1604516"/>
          </a:xfrm>
          <a:prstGeom prst="roundRect">
            <a:avLst>
              <a:gd name="adj" fmla="val 395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5176" y="3318616"/>
            <a:ext cx="79087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0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Academic References (Thesis Chapter 2):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5176" y="3559866"/>
            <a:ext cx="7753648" cy="111591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 et al. (2022)</a:t>
            </a: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Multimodal affective computing fusing physiological &amp; acoustic signals. </a:t>
            </a:r>
            <a:r>
              <a:rPr lang="en-US" sz="1000" i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Trans. Affect. Comput.</a:t>
            </a:r>
            <a:endParaRPr lang="en-US" sz="1000" dirty="0"/>
          </a:p>
          <a:p>
            <a:pPr marL="101600" indent="-101600" algn="l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Patel et al. (2026)</a:t>
            </a: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Risk-constrained graph workflows for conversational mental health systems. </a:t>
            </a:r>
            <a:r>
              <a:rPr lang="en-US" sz="1000" i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Med. Internet Res.</a:t>
            </a:r>
            <a:endParaRPr lang="en-US" sz="1000" dirty="0"/>
          </a:p>
          <a:p>
            <a:pPr marL="101600" indent="-101600" algn="l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Voultsiou, A. &amp; Moussiades, L. (2026)</a:t>
            </a: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Conversational agents in mental health: A systematic review. </a:t>
            </a:r>
            <a:r>
              <a:rPr lang="en-US" sz="1000" i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Comput. Hum. Behav.</a:t>
            </a:r>
            <a:endParaRPr lang="en-US" sz="1000" dirty="0"/>
          </a:p>
          <a:p>
            <a:pPr marL="101600" indent="-101600" algn="l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Khubrani (2026)</a:t>
            </a: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Multimodal stress detection using facial expression and speech dynamics. </a:t>
            </a:r>
            <a:r>
              <a:rPr lang="en-US" sz="1000" i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Int. J. Hum.-Comput. Stud.</a:t>
            </a:r>
            <a:endParaRPr lang="en-US" sz="1000" dirty="0"/>
          </a:p>
          <a:p>
            <a:pPr marL="101600" indent="-101600" algn="l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Goodfellow, I. et al. (2013)</a:t>
            </a: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Challenges in representation learning: FER-2013. </a:t>
            </a:r>
            <a:r>
              <a:rPr lang="en-US" sz="1000" i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ICML Workshop.</a:t>
            </a:r>
            <a:endParaRPr lang="en-US" sz="1000" dirty="0"/>
          </a:p>
          <a:p>
            <a:pPr marL="101600" indent="-101600" algn="l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Health Organization (2022)</a:t>
            </a: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World Mental Health Report: Transforming Mental Health for All. Geneva.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1997</Words>
  <Application>Microsoft Office PowerPoint</Application>
  <PresentationFormat>On-screen Show (16:9)</PresentationFormat>
  <Paragraphs>220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Cardiff Metropolitan University / ICBT 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MindCare — Emotion Recognition &amp; Mental Support System Using AI Voice Assistant</dc:title>
  <dc:subject>CSE6035 Development Project (PRES1) — Cardiff Metropolitan University / ICBT Campus</dc:subject>
  <dc:creator>Haputhanthirige Thushara Lahiru Kavishal (st20360354)</dc:creator>
  <cp:lastModifiedBy>Lahiru Kavishal</cp:lastModifiedBy>
  <cp:revision>2</cp:revision>
  <dcterms:created xsi:type="dcterms:W3CDTF">2026-08-31T04:55:29Z</dcterms:created>
  <dcterms:modified xsi:type="dcterms:W3CDTF">2026-08-31T05:55:59Z</dcterms:modified>
</cp:coreProperties>
</file>